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Multi-Group SEIR Disease Transmission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Intervention Simulation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Monte Carlo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Abdulkarim Noorzaie (100748590)  |  Abdullah Hanoosh (100749026)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SOFE 4820U - Modeling &amp; Simulation  |  Ontario Tech University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Description and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Infectious disease outbreaks spread differently across age groups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interventions must be evaluated before deployment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outbreaks involve detection delays before response begins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models miss stochastic variation in transmission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Multi-group SEIR model with 3 demographic groups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(300 runs) for uncertainty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intervention scenarios with 14-day detection delay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Ontario COVID-19 first wave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005840"/>
            <a:ext cx="3566160" cy="3931920"/>
          </a:xfrm>
          <a:prstGeom prst="rect">
            <a:avLst/>
          </a:prstGeom>
          <a:solidFill>
            <a:srgbClr val="16253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Numbers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1,000,000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Population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2304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Groups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2304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Children, Adults, Elderly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29626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 Runs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0" y="29626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3621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Scenarios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0" y="36210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Strategies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4279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Days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4279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Delay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 et al., 2020 (NEJM)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2435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COVID-19 transmission dynamics. Source for incubation period (~5.2 days) and basic reproduction number.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54864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Mossong et al., 2008 (POLYMOD)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883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contact survey across 8 European countries. Foundation for age-specific contact rates.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54864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86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 et al., 2017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5237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contact matrices to 152 countries. Basis for our multi-group contact structure.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4864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26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Alimohamadi et al., 2020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1638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 of R0 estimates for COVID-19 (range: 2.0-3.5). Used for validation benchmarks.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4864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661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Levin et al., 2020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8039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Age-specific infection fatality rates. Used for severity and mortality analysis.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54864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06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JHU CSSE COVID-19 Repository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4439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time series case data. Ontario first wave data used for model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SEIR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645920" cy="91440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972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1097280"/>
            <a:ext cx="1645920" cy="914400"/>
          </a:xfrm>
          <a:prstGeom prst="rect">
            <a:avLst/>
          </a:prstGeom>
          <a:solidFill>
            <a:srgbClr val="F39C1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0972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1645920" cy="9144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972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0" y="1097280"/>
            <a:ext cx="1645920" cy="9144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0972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94560" y="1554480"/>
            <a:ext cx="548640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1554480"/>
            <a:ext cx="548640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1554480"/>
            <a:ext cx="548640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Parameters (vary by age group):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 (0-17)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 (18-64)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Elderly (65+)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(transmission)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Sigma (1/incubation)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 (recovery)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Incubation ~5.2 days (Li et al., 2020). Recovery varies: 7 days (children), 10 days (adults), 12 days (elderly).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Multi-Group Structure and Contact Matrix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patterns drive differential transmission between age groups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\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Elderly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Elderly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Average daily contacts per person (based on POLYMOD)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17373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have highest within-group contacts (10/day) from school settings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have 8 daily within-group contacts from workplaces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have lowest contact rate (4/day), reflecting more isolated lifestyles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Cross-group contacts are lower, with children-elderly being least frequent (1.5/day)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Population Distribution (1,000,000 total)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56616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3566160"/>
            <a:ext cx="246888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Children (0-17)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(20%)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200400" y="356616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3566160"/>
            <a:ext cx="246888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Adults (18-64)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20040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 (60%)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852160" y="356616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52160" y="3566160"/>
            <a:ext cx="24688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19"/>
          <p:cNvSpPr/>
          <p:nvPr/>
        </p:nvSpPr>
        <p:spPr>
          <a:xfrm>
            <a:off x="5852160" y="3703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Elderly (65+)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5216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(20%)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 Carlo Simulation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simulations per scenario with stochastic parameter perturbation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(5% standard deviation) applied to transmission rates at each time step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real-world randomness in contact patterns, susceptibility, and environmental factors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mean, median, and 90% confidence intervals (5th-95th percentile)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summary metrics: total infections, peak active infections, peak day</a:t>
            </a:r>
            <a:endParaRPr lang="en-US" sz="1300" dirty="0"/>
          </a:p>
        </p:txBody>
      </p:sp>
      <p:pic>
        <p:nvPicPr>
          <p:cNvPr id="7" name="Image 0" descr="C:\Users\Abduh\OneDrive\Desktop\ModelProject\output\mc_distribution_No_Intervention_Bas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005840"/>
            <a:ext cx="3840480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distribution (baseline, 300 runs)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Monte Carlo?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6576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models give a single trajectory, missing variability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provides probability distributions of outcomes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quantify uncertainty for decision-makers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interventions activate after a 14-day detection delay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A0AEC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Intervention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spread, no changes to contact patterns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38528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38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Closures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1214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-70% children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18928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reduction in all contacts involving children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505456"/>
            <a:ext cx="365760" cy="36576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459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Workplace Restrictions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26883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-50% adults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45973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reduction in all contacts involving adults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072384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72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026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Elderly Isolation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2552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-60% elderly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30266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reduction in all contacts involving elderly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63931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639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35935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Moderate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3822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35935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-50%, Workplaces -30%, Elderly -40%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515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Lockdown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51560" y="4389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-75% all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74720" y="4160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reduction in all contacts across all groups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Baseline (No Intervention)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18288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005840"/>
            <a:ext cx="18288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143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974,185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Infected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18288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43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Infection</a:t>
            </a:r>
            <a:endParaRPr lang="en-US" sz="1100" dirty="0"/>
          </a:p>
        </p:txBody>
      </p:sp>
      <p:pic>
        <p:nvPicPr>
          <p:cNvPr id="18" name="Image 0" descr="C:\Users\Abduh\OneDrive\Desktop\ModelProject\output\seir_No_Intervention_Bas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377440"/>
            <a:ext cx="8595360" cy="2560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SEIR dynamics for baseline scenario (300 Monte Carlo runs, 90% confidence bands)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58000" y="1005840"/>
            <a:ext cx="2011680" cy="118872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49440" y="1097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intervention, virtually the entire population becomes infected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 Comparison</a:t>
            </a:r>
            <a:endParaRPr lang="en-US" sz="2400" dirty="0"/>
          </a:p>
        </p:txBody>
      </p:sp>
      <p:pic>
        <p:nvPicPr>
          <p:cNvPr id="6" name="Image 0" descr="C:\Users\Abduh\OneDrive\Desktop\ModelProject\output\scenario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4572000" cy="2560320"/>
          </a:xfrm>
          <a:prstGeom prst="rect">
            <a:avLst/>
          </a:prstGeom>
        </p:spPr>
      </p:pic>
      <p:pic>
        <p:nvPicPr>
          <p:cNvPr id="7" name="Image 1" descr="C:\Users\Abduh\OneDrive\Desktop\ModelProject\output\infection_curves_overl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914400"/>
            <a:ext cx="438912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640" y="39776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lockdown: 0.3% attack rate (most effective single measure)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moderate: 3.8% attack rate (synergistic multi-target approach)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Single-target interventions alone are insufficient (63-85% attack rates)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restrictions most effective among single-target approaches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Per-Group Infection Analysis</a:t>
            </a:r>
            <a:endParaRPr lang="en-US" sz="2400" dirty="0"/>
          </a:p>
        </p:txBody>
      </p:sp>
      <p:pic>
        <p:nvPicPr>
          <p:cNvPr id="6" name="Image 0" descr="C:\Users\Abduh\OneDrive\Desktop\ModelProject\output\group_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914400"/>
            <a:ext cx="4754880" cy="2560320"/>
          </a:xfrm>
          <a:prstGeom prst="rect">
            <a:avLst/>
          </a:prstGeom>
        </p:spPr>
      </p:pic>
      <p:pic>
        <p:nvPicPr>
          <p:cNvPr id="7" name="Image 1" descr="C:\Users\Abduh\OneDrive\Desktop\ModelProject\output\infection_tim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914400"/>
            <a:ext cx="438912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Per-Group Breakdown (Baseline)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640" y="4023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98.6%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64592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infected group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83280" y="4023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96.8%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48056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contacts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17920" y="4023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93.4%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31520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but severe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Severity and Mortality Estimates</a:t>
            </a:r>
            <a:endParaRPr lang="en-US" sz="2400" dirty="0"/>
          </a:p>
        </p:txBody>
      </p:sp>
      <p:pic>
        <p:nvPicPr>
          <p:cNvPr id="6" name="Image 0" descr="C:\Users\Abduh\OneDrive\Desktop\ModelProject\output\severity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68680"/>
            <a:ext cx="54864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914400"/>
            <a:ext cx="29260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914400"/>
            <a:ext cx="292608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Impact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26480" y="1463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13,184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06640" y="1463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Deaths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26480" y="2011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62,690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0664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Hospitalizations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0664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from Elderly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2648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40664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IFR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06640" y="3657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IFR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account for 77% of deaths despite being only 20% of the population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 sources: Levin et al. (2020) - Children 0.01%, Adults 0.5%, Elderly 5.4%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 Sensitivity Analysis</a:t>
            </a:r>
            <a:endParaRPr lang="en-US" sz="2400" dirty="0"/>
          </a:p>
        </p:txBody>
      </p:sp>
      <p:pic>
        <p:nvPicPr>
          <p:cNvPr id="6" name="Image 0" descr="C:\Users\Abduh\OneDrive\Desktop\ModelProject\output\r0_sensi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02920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0" y="137160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estimated at 2.83 (within accepted range of 2.0-3.5)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R0 produces faster growth, higher peaks, and earlier peak timing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R0 flattens the curve and reduces total infections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small changes in R0 have large effects on outbreak dynamics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investment in interventions that reduce effective transmission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3931920"/>
            <a:ext cx="3291840" cy="6400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Estimated R0: 2.83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0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range: 2.0 - 3.5 (PASS)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Delay Analysis</a:t>
            </a:r>
            <a:endParaRPr lang="en-US" sz="2400" dirty="0"/>
          </a:p>
        </p:txBody>
      </p:sp>
      <p:pic>
        <p:nvPicPr>
          <p:cNvPr id="6" name="Image 0" descr="C:\Users\Abduh\OneDrive\Desktop\ModelProject\output\detection_delay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02920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of Early Detection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0" y="13716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delays of 0, 7, 14, 21, and 28 days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detection significantly improves intervention effectiveness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full lockdown loses value if implemented too late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and early warning systems are critical complements to policy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3749040"/>
            <a:ext cx="3291840" cy="9144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3794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additional week of delay allows exponential growth before interventions begin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Validation</a:t>
            </a:r>
            <a:endParaRPr lang="en-US" sz="2400" dirty="0"/>
          </a:p>
        </p:txBody>
      </p:sp>
      <p:pic>
        <p:nvPicPr>
          <p:cNvPr id="6" name="Image 0" descr="C:\Users\Abduh\OneDrive\Desktop\ModelProject\output\validation_curve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914400"/>
            <a:ext cx="54864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200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vs Ontario COVID-19 first wave (normalized shape and cumulative)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914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Results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0" y="1371600"/>
            <a:ext cx="2926080" cy="50292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1389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1618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2.83 (expected: 2.0-3.5)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138160" y="1417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0" y="1965960"/>
            <a:ext cx="2926080" cy="50292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19842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Doubling Time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35040" y="2212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days (expected: 3.0-7.0)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138160" y="2011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2560320"/>
            <a:ext cx="2926080" cy="50292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0" y="2578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Incubation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35040" y="2807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days (expected: 4.0-7.0)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138160" y="2606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943600" y="3154680"/>
            <a:ext cx="2926080" cy="502920"/>
          </a:xfrm>
          <a:prstGeom prst="rect">
            <a:avLst/>
          </a:prstGeom>
          <a:solidFill>
            <a:srgbClr val="FFFBE6"/>
          </a:solidFill>
          <a:ln/>
        </p:spPr>
      </p:sp>
      <p:sp>
        <p:nvSpPr>
          <p:cNvPr id="22" name="Text 19"/>
          <p:cNvSpPr/>
          <p:nvPr/>
        </p:nvSpPr>
        <p:spPr>
          <a:xfrm>
            <a:off x="6035040" y="3172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Gen. Time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35040" y="3401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 days (expected: 5.0-8.0)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138160" y="3200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94360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time exceeds range because it sums incubation + full infectious period, while the benchmark refers to the narrower serial interval.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7315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05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Single-target interventions are insufficient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2984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closures, workplace restrictions, and elderly isolation each reduce infections in the targeted group but the disease spreads through other groups (63-85% attack rates)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864" cy="7315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interventions produce synergistic effects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258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moderate measures achieve 96% reduction in infections. Simultaneous partial reductions across all groups break transmission chains more effectively.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4864" cy="7315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delay critically impacts outcomes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2186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most effective interventions lose substantial value if implemented too late. A 14-day delay allows exponential growth before response begins.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4864" cy="7315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Severe disparity in mortality burden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1788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account for 77% of deaths despite being 20% of the population. Higher IFR (5.4%) and longer infectious period drive this disparity.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population: no births, deaths (non-disease), or migration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contact matrix within each phase (pre and post intervention)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asymptomatic transmission modeled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waning immunity or reinfection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emergence of new variants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noise applied only to transmission rates, not incubation or recovery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mixing within each age group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structure or geographic spread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represent opportunities for future model refinement.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Demographic Groups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young adults from older adults for finer-grained analysis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86000"/>
            <a:ext cx="54864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Vaccination Modeling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vaccination as an additional intervention to model immunization campaigns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Time-Varying Contacts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contact matrices that change during an outbreak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54864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Structure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 across regions or cities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86000"/>
            <a:ext cx="54864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Data Assimilation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parameters as new case data becomes available for live forecasting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520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520440"/>
            <a:ext cx="54864" cy="10515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Modeling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with economic model to estimate costs and benefits of interventions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789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Multi-group SEIR model with Monte Carlo simulation successfully evaluates disease transmission and intervention effectiveness across demographic groups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190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multi-target interventions reduce infections by 96% compared to baseline (from 97.4% to 3.8% attack rate)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59152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591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delay significantly impacts outcomes, supporting investment in early surveillance systems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992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populations bear 77% of the mortality burden, justifying targeted protection measures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393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5661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 confirms epidemiologically realistic dynamics (R0 = 2.83, doubling time = 5.5 days)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79392"/>
            <a:ext cx="228600" cy="2286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79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can be adapted to model other infectious diseases by adjusting parameters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86384"/>
            <a:ext cx="9144000" cy="18288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Q. Li et al., "Early Transmission Dynamics in Wuhan, China, of Novel Coronavirus-Infected Pneumonia," NEJM, vol. 382, 2020.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J. Mossong et al., "Social Contacts and Mixing Patterns Relevant to the Spread of Infectious Diseases," PLOS Medicine, vol. 5, 2008.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K. Prem et al., "Projecting social contact matrices in 152 countries," PLOS Computational Biology, vol. 13, 2017.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Y. Alimohamadi et al., "Estimate of the Basic Reproduction Number for COVID-19," J. Prev. Med. Public Health, vol. 53, 2020.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I. Voinsky et al., "Effects of age and sex on recovery from COVID-19," Journal of Infection, vol. 81, 2020.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Johns Hopkins University CSSE, "COVID-19 Data Repository," GitHub, github.com/CSSEGISandData/COVID-19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A. T. Levin et al., "Assessing the age specificity of infection fatality rates for COVID-19," European J. Epidemiology, vol. 35, 2020.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103120"/>
            <a:ext cx="274320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Abdulkarim Noorzaie  |  Abdullah Hanoosh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SOFE 4820U - Modeling &amp; Simulation  |  Ontario Tech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Multi-Group SEIR Disease Transmission and Intervention Simulation</dc:title>
  <dc:subject>PptxGenJS Presentation</dc:subject>
  <dc:creator>Group 2</dc:creator>
  <cp:lastModifiedBy>Group 2</cp:lastModifiedBy>
  <cp:revision>1</cp:revision>
  <dcterms:created xsi:type="dcterms:W3CDTF">2026-03-17T02:20:34Z</dcterms:created>
  <dcterms:modified xsi:type="dcterms:W3CDTF">2026-03-17T02:20:34Z</dcterms:modified>
</cp:coreProperties>
</file>